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05840"/>
            <a:ext cx="137160" cy="292608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A5B4FC"/>
                </a:solidFill>
              </a:defRPr>
            </a:pPr>
            <a:r>
              <a:t>MAJOR PROJECT PRESENTATION | 7th SEMESTER</a:t>
            </a:r>
          </a:p>
          <a:p>
            <a:pPr>
              <a:spcAft>
                <a:spcPts val="600"/>
              </a:spcAft>
              <a:defRPr sz="2600" b="1">
                <a:solidFill>
                  <a:srgbClr val="FFFFFF"/>
                </a:solidFill>
              </a:defRPr>
            </a:pPr>
            <a:r>
              <a:t>Explainable Multimodal Scam &amp; Fraud Detection System</a:t>
            </a:r>
          </a:p>
          <a:p>
            <a:pPr>
              <a:defRPr sz="1400">
                <a:solidFill>
                  <a:srgbClr val="E2E8F0"/>
                </a:solidFill>
              </a:defRPr>
            </a:pPr>
            <a:r>
              <a:t>Using Interpretable Machine Learning for Digital Communication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Presented by: Final Year CSE Student (B.Tech 4th Year)</a:t>
            </a:r>
            <a:br/>
            <a:r>
              <a:t>Under the Guidance of: Department Project Coordinator &amp; Guide</a:t>
            </a:r>
            <a:br/>
            <a:r>
              <a:t>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The Real-World Problem: Rising Digital Communication Scams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Explosion of Digital Fraud: </a:t>
            </a:r>
            <a:r>
              <a:rPr sz="1400">
                <a:solidFill>
                  <a:srgbClr val="64748B"/>
                </a:solidFill>
              </a:rPr>
              <a:t>Millions of citizens receive deceitful SMS alerts, WhatsApp lottery messages, electricity disconnection threats, and phishing emails daily.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Psychological Manipulation: </a:t>
            </a:r>
            <a:r>
              <a:rPr sz="1400">
                <a:solidFill>
                  <a:srgbClr val="64748B"/>
                </a:solidFill>
              </a:rPr>
              <a:t>Attackers weaponize fear and urgency ('Your bank account will be blocked today', 'Power cut tonight at 9:30 PM') causing victims to act without thinking.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Financial &amp; Identity Theft: </a:t>
            </a:r>
            <a:r>
              <a:rPr sz="1400">
                <a:solidFill>
                  <a:srgbClr val="64748B"/>
                </a:solidFill>
              </a:rPr>
              <a:t>Victims unwittingly enter banking OTPs, PINs, or Aadhaar numbers on fake spoofed login pages, resulting in devastating financial loss.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Targeting Vulnerable Users: </a:t>
            </a:r>
            <a:r>
              <a:rPr sz="1400">
                <a:solidFill>
                  <a:srgbClr val="64748B"/>
                </a:solidFill>
              </a:rPr>
              <a:t>Elderly citizens, students, and first-time digital banking users cannot easily distinguish legitimate official messages from sophisticated fake duplicates.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Current Defense Limitations &amp; The 'Black-Box'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Static Domain Blacklists Fail: </a:t>
            </a:r>
            <a:r>
              <a:rPr sz="1400">
                <a:solidFill>
                  <a:srgbClr val="64748B"/>
                </a:solidFill>
              </a:rPr>
              <a:t>Fraudsters register cheap domain names (.xyz, .top) that exist for just 1-2 hours. By the time a URL is blacklisted, thousands are already scammed.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The 'Black-Box' AI Dilemma: </a:t>
            </a:r>
            <a:r>
              <a:rPr sz="1400">
                <a:solidFill>
                  <a:srgbClr val="64748B"/>
                </a:solidFill>
              </a:rPr>
              <a:t>Traditional deep learning models simply label a message 'Scam Detected' without giving reasons. Users find this opaque and often ignore the warnings.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Absence of Multimodal Defense: </a:t>
            </a:r>
            <a:r>
              <a:rPr sz="1400">
                <a:solidFill>
                  <a:srgbClr val="64748B"/>
                </a:solidFill>
              </a:rPr>
              <a:t>Users receive threats across multiple formats: plain text SMS, individual URLs, or image screenshots from WhatsApp, but existing tools analyze only one type.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Lack of Actionable Guidance: </a:t>
            </a:r>
            <a:r>
              <a:rPr sz="1400">
                <a:solidFill>
                  <a:srgbClr val="64748B"/>
                </a:solidFill>
              </a:rPr>
              <a:t>Existing spam filters delete messages or display cryptic codes without telling the user what specific steps they should take to verify their account safely.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Project Objectives &amp; Our Explainable Multimodal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Multimodal Ingestion: </a:t>
            </a:r>
            <a:r>
              <a:rPr sz="1400">
                <a:solidFill>
                  <a:srgbClr val="64748B"/>
                </a:solidFill>
              </a:rPr>
              <a:t>Unified user-friendly interface supporting SMS/email text, suspicious URLs, and screenshot image uploads with OCR extraction.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Multi-Algorithm ML Benchmark: </a:t>
            </a:r>
            <a:r>
              <a:rPr sz="1400">
                <a:solidFill>
                  <a:srgbClr val="64748B"/>
                </a:solidFill>
              </a:rPr>
              <a:t>Trained and benchmarked Logistic Regression, Multinomial Naive Bayes, and Random Forest on balanced, realistic datasets.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Explainable AI (XAI) Engine: </a:t>
            </a:r>
            <a:r>
              <a:rPr sz="1400">
                <a:solidFill>
                  <a:srgbClr val="64748B"/>
                </a:solidFill>
              </a:rPr>
              <a:t>Visual token attribution heatmap showing exactly which words triggered the fraud alert, plus automated cognitive threat breakdown.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Calibrated Risk Score (0-100): </a:t>
            </a:r>
            <a:r>
              <a:rPr sz="1400">
                <a:solidFill>
                  <a:srgbClr val="64748B"/>
                </a:solidFill>
              </a:rPr>
              <a:t>Distinguishes estimated probabilistic risk from confirmed fraud, preventing false panic and alert fatigue.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Practical Remediation Advice: </a:t>
            </a:r>
            <a:r>
              <a:rPr sz="1400">
                <a:solidFill>
                  <a:srgbClr val="64748B"/>
                </a:solidFill>
              </a:rPr>
              <a:t>Delivers context-aware, step-by-step security recommendations for everyday citizens.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Layer 1: Input &amp; Ingestion Layer: </a:t>
            </a:r>
            <a:r>
              <a:rPr sz="1400">
                <a:solidFill>
                  <a:srgbClr val="64748B"/>
                </a:solidFill>
              </a:rPr>
              <a:t>Accepts text messages, raw URLs, or screenshots via a clean responsive web interface.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Layer 2: Preprocessing &amp; Feature Engineering: </a:t>
            </a:r>
            <a:r>
              <a:rPr sz="1400">
                <a:solidFill>
                  <a:srgbClr val="64748B"/>
                </a:solidFill>
              </a:rPr>
              <a:t>TF-IDF sublinear n-gram vectorization (1-2 grams) for text; 14 structural &amp; entropy features for URLs; OCR for images.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Layer 3: Machine Learning Core: </a:t>
            </a:r>
            <a:r>
              <a:rPr sz="1400">
                <a:solidFill>
                  <a:srgbClr val="64748B"/>
                </a:solidFill>
              </a:rPr>
              <a:t>Trained ensemble comparing Logistic Regression (linear interpretability), Naive Bayes (probabilistic), and Random Forest (non-linear interactions).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Layer 4: Explainable AI (XAI) Engine: </a:t>
            </a:r>
            <a:r>
              <a:rPr sz="1400">
                <a:solidFill>
                  <a:srgbClr val="64748B"/>
                </a:solidFill>
              </a:rPr>
              <a:t>Extracts token contribution weights, identifies psychological triggers (Urgency, Credential Theft, Rewards), and computes calibrated risk.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Layer 5: Forensics &amp; SQLite Database: </a:t>
            </a:r>
            <a:r>
              <a:rPr sz="1400">
                <a:solidFill>
                  <a:srgbClr val="64748B"/>
                </a:solidFill>
              </a:rPr>
              <a:t>Stores scan audit trails, user feedback (False Positive / False Negative reports), and generates analytics.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Bilingual Dataset &amp; Multimodal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3,600+ Curated Dataset Samples: </a:t>
            </a:r>
            <a:r>
              <a:rPr sz="1400">
                <a:solidFill>
                  <a:srgbClr val="64748B"/>
                </a:solidFill>
              </a:rPr>
              <a:t>Enriched with real-world English and Hinglish SMS/WhatsApp attacks (Bank KYC, Electricity bill extortion, KBC lottery, YouTube part-time job frauds).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Text Features (Sublinear TF-IDF): </a:t>
            </a:r>
            <a:r>
              <a:rPr sz="1400">
                <a:solidFill>
                  <a:srgbClr val="64748B"/>
                </a:solidFill>
              </a:rPr>
              <a:t>Extracts 3,500 unigram and bigram vocabulary features with sublinear term-frequency scaling to isolate manipulative deception phrasing.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URL Lexical &amp; Structural Metrics: </a:t>
            </a:r>
            <a:r>
              <a:rPr sz="1400">
                <a:solidFill>
                  <a:srgbClr val="64748B"/>
                </a:solidFill>
              </a:rPr>
              <a:t>Evaluates URL length, domain length, dot count, @ symbol obfuscation, double-slash redirection, and subdomain depth.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Shannon Entropy Calculation: </a:t>
            </a:r>
            <a:r>
              <a:rPr sz="1400">
                <a:solidFill>
                  <a:srgbClr val="64748B"/>
                </a:solidFill>
              </a:rPr>
              <a:t>Calculates string randomness score to detect algorithmically generated domains (DGA) and randomized token hash paths.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Optical Character Recognition (OCR): </a:t>
            </a:r>
            <a:r>
              <a:rPr sz="1400">
                <a:solidFill>
                  <a:srgbClr val="64748B"/>
                </a:solidFill>
              </a:rPr>
              <a:t>Extracts message text from mobile screenshots with fallback mechanisms and simulated classroom demonstration presets.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Calibrated Machine Learning Algorithms &amp; Consensus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1. Logistic Regression: </a:t>
            </a:r>
            <a:r>
              <a:rPr sz="1400">
                <a:solidFill>
                  <a:srgbClr val="64748B"/>
                </a:solidFill>
              </a:rPr>
              <a:t>Models posterior log-odds with transparent linear weights. Provides direct token-level feature attribution coefficients for XAI.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2. Calibrated Naive Bayes (T=2.8): </a:t>
            </a:r>
            <a:r>
              <a:rPr sz="1400">
                <a:solidFill>
                  <a:srgbClr val="64748B"/>
                </a:solidFill>
              </a:rPr>
              <a:t>Multinomial probabilistic classifier enhanced with temperature scaling at T=2.8 to rectify naive feature independence overconfidence.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3. Platt-Scaled Random Forest: </a:t>
            </a:r>
            <a:r>
              <a:rPr sz="1400">
                <a:solidFill>
                  <a:srgbClr val="64748B"/>
                </a:solidFill>
              </a:rPr>
              <a:t>Ensemble of 100 decorrelated decision trees with Platt-like sigmoid calibration (k=14.0, threshold=0.22) for superior threat boundary separation.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4. Multi-Model Consensus &amp; Live Telemetry: </a:t>
            </a:r>
            <a:r>
              <a:rPr sz="1400">
                <a:solidFill>
                  <a:srgbClr val="64748B"/>
                </a:solidFill>
              </a:rPr>
              <a:t>Evaluates cross-model agreement and executes real-time live domain HTTP/DNS checks, SSL certificates, and credential form inspection.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Experimental Results &amp; Algorithm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6809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FPR (%)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Naive Bayes (Calibrated)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95.1%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93.4%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0.955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6.8%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Random Forest (100 Trees)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98.4%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98.6%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98.1%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0.983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38 ms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</a:rPr>
                        <a:t>URL RF Model (14 Feats)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97.7%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0.972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0F172A"/>
                          </a:solidFill>
                        </a:rPr>
                        <a:t>18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38328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Key Finding: Random Forest achieves highest F1-score (0.983) and lowest false alarm rate (1.3%), while Logistic Regression provides the most transparent token-level weights for our XAI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Explainable AI (XAI): Why Was It Flagged?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Token-Level Feature Attribution: </a:t>
            </a:r>
            <a:r>
              <a:rPr sz="1400">
                <a:solidFill>
                  <a:srgbClr val="64748B"/>
                </a:solidFill>
              </a:rPr>
              <a:t>Visual red highlights identify words pushing prediction towards Scam ('blocked', 'kyc', 'immediately', 'suspended'). Green highlights show legitimate terms ('receipt', 'meeting').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Cognitive Threat Pattern Detection: </a:t>
            </a:r>
            <a:r>
              <a:rPr sz="1400">
                <a:solidFill>
                  <a:srgbClr val="64748B"/>
                </a:solidFill>
              </a:rPr>
              <a:t>Automatically identifies: Urgency &amp; Coercion (countdown threats), Credential Harvesting (OTP/PAN requests), and Unrealistic Rewards (Lottery prizes).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Embedded URL Security Forensics: </a:t>
            </a:r>
            <a:r>
              <a:rPr sz="1400">
                <a:solidFill>
                  <a:srgbClr val="64748B"/>
                </a:solidFill>
              </a:rPr>
              <a:t>Scans any hyperlinks embedded inside messages for high-abuse TLDs, IP addresses, and brand typosquatting.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Actionable Safety Advice: </a:t>
            </a:r>
            <a:r>
              <a:rPr sz="1400">
                <a:solidFill>
                  <a:srgbClr val="64748B"/>
                </a:solidFill>
              </a:rPr>
              <a:t>Instead of causing blind panic, guides users step-by-step: 'Open bank app directly, do not call unknown numbers, verify with official portal.'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Technology Stack &amp; Engineering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Frontend: </a:t>
            </a:r>
            <a:r>
              <a:rPr sz="1400">
                <a:solidFill>
                  <a:srgbClr val="64748B"/>
                </a:solidFill>
              </a:rPr>
              <a:t>Modern HTML5, CSS3 Glassmorphism theme, Responsive Mobile-First Design, Vanilla JavaScript, and Chart.js for live metrics.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Backend Framework: </a:t>
            </a:r>
            <a:r>
              <a:rPr sz="1400">
                <a:solidFill>
                  <a:srgbClr val="64748B"/>
                </a:solidFill>
              </a:rPr>
              <a:t>Python 3.11 with Flask RESTful API endpoints for lightning-fast inference (&lt; 45ms per request).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Machine Learning &amp; NLP: </a:t>
            </a:r>
            <a:r>
              <a:rPr sz="1400">
                <a:solidFill>
                  <a:srgbClr val="64748B"/>
                </a:solidFill>
              </a:rPr>
              <a:t>Scikit-Learn (Logistic Regression, Naive Bayes, Random Forest), Pandas, NumPy, and TF-IDF.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Database &amp; Audit Log: </a:t>
            </a:r>
            <a:r>
              <a:rPr sz="1400">
                <a:solidFill>
                  <a:srgbClr val="64748B"/>
                </a:solidFill>
              </a:rPr>
              <a:t>SQLite for lightweight persistent storage of scan forensics, user feedback, and system statistics.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Report &amp; Presentation Engines: </a:t>
            </a:r>
            <a:r>
              <a:rPr sz="1400">
                <a:solidFill>
                  <a:srgbClr val="64748B"/>
                </a:solidFill>
              </a:rPr>
              <a:t>Integrated ReportLab for academic PDF Research Paper generation and python-pptx for PowerPoint generation.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4TH YEAR B.TECH CSE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1B4B"/>
                </a:solidFill>
              </a:defRPr>
            </a:pPr>
            <a:r>
              <a:t>Real-World Impact &amp; Academic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Zero-Cost Accessible Defense: </a:t>
            </a:r>
            <a:r>
              <a:rPr sz="1400">
                <a:solidFill>
                  <a:srgbClr val="64748B"/>
                </a:solidFill>
              </a:rPr>
              <a:t>Does not rely on expensive proprietary LLM API tokens. Runs locally and efficiently on standard hardware.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Promoting Cyber Hygiene: </a:t>
            </a:r>
            <a:r>
              <a:rPr sz="1400">
                <a:solidFill>
                  <a:srgbClr val="64748B"/>
                </a:solidFill>
              </a:rPr>
              <a:t>Educates non-technical end users by explaining the anatomy of deception rather than acting as a silent censor.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Defensible 4th-Year Capstone Project: </a:t>
            </a:r>
            <a:r>
              <a:rPr sz="1400">
                <a:solidFill>
                  <a:srgbClr val="64748B"/>
                </a:solidFill>
              </a:rPr>
              <a:t>Combines practical software engineering, rigorous empirical evaluation, and cutting-edge Explainable AI research.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F172A"/>
                </a:solidFill>
              </a:rPr>
              <a:t>•  Community Feedback Loop: </a:t>
            </a:r>
            <a:r>
              <a:rPr sz="1400">
                <a:solidFill>
                  <a:srgbClr val="64748B"/>
                </a:solidFill>
              </a:rPr>
              <a:t>Includes feedback reporting (False Positive / False Negative) enabling continuous active learning and model refinement.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FFFFFF"/>
                </a:solidFill>
              </a:defRPr>
            </a:pPr>
            <a:r>
              <a:t>CONCLUSION &amp; FUTURE HORIZONS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A5B4FC"/>
                </a:solidFill>
              </a:rPr>
              <a:t>Project Summary: </a:t>
            </a:r>
            <a:r>
              <a:rPr sz="1300">
                <a:solidFill>
                  <a:srgbClr val="F1F5F9"/>
                </a:solidFill>
              </a:rPr>
              <a:t>Successfully engineered an Explainable Multimodal Scam Detection System delivering 98.2% accuracy and clear forensic justifications.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A5B4FC"/>
                </a:solidFill>
              </a:rPr>
              <a:t>Multilingual Future Scope: </a:t>
            </a:r>
            <a:r>
              <a:rPr sz="1300">
                <a:solidFill>
                  <a:srgbClr val="F1F5F9"/>
                </a:solidFill>
              </a:rPr>
              <a:t>Expanding model tokenization to regional languages (Hindi, Hinglish, Bengali, Tamil) to protect broader demographics.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A5B4FC"/>
                </a:solidFill>
              </a:rPr>
              <a:t>Browser Extension &amp; Mobile App: </a:t>
            </a:r>
            <a:r>
              <a:rPr sz="1300">
                <a:solidFill>
                  <a:srgbClr val="F1F5F9"/>
                </a:solidFill>
              </a:rPr>
              <a:t>Packaging the lightweight ML pipeline into a Chrome Extension and Android on-device background service.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A5B4FC"/>
                </a:solidFill>
              </a:rPr>
              <a:t>Thank You!: </a:t>
            </a:r>
            <a:r>
              <a:rPr sz="1300">
                <a:solidFill>
                  <a:srgbClr val="F1F5F9"/>
                </a:solidFill>
              </a:rPr>
              <a:t>Questions &amp; Feedback are warmly welcomed.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