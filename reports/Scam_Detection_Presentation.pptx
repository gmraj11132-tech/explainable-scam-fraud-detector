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B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005840"/>
            <a:ext cx="137160" cy="2926080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914400"/>
            <a:ext cx="7315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A5B4FC"/>
                </a:solidFill>
              </a:defRPr>
            </a:pPr>
            <a:r>
              <a:t>MAJOR PROJECT PRESENTATION | 7th SEMESTER</a:t>
            </a:r>
          </a:p>
          <a:p>
            <a:pPr>
              <a:spcAft>
                <a:spcPts val="600"/>
              </a:spcAft>
              <a:defRPr sz="2600" b="1">
                <a:solidFill>
                  <a:srgbClr val="FFFFFF"/>
                </a:solidFill>
              </a:defRPr>
            </a:pPr>
            <a:r>
              <a:t>Explainable Multimodal Scam &amp; Fraud Detection System</a:t>
            </a:r>
          </a:p>
          <a:p>
            <a:pPr>
              <a:defRPr sz="1400">
                <a:solidFill>
                  <a:srgbClr val="E2E8F0"/>
                </a:solidFill>
              </a:defRPr>
            </a:pPr>
            <a:r>
              <a:t>Using Interpretable Machine Learning for Digital Communication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9184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Presented by: Final Year CSE Student (B.Tech 4th Year)</a:t>
            </a:r>
            <a:br/>
            <a:r>
              <a:t>Under the Guidance of: Department Project Coordinator &amp; Guide</a:t>
            </a:r>
            <a:br/>
            <a:r>
              <a:t>Department of Computer Science &amp;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4TH YEAR B.TECH CSE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1B4B"/>
                </a:solidFill>
              </a:defRPr>
            </a:pPr>
            <a:r>
              <a:t>The Real-World Problem: Rising Digital Communication Scams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7680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sz="1400">
                <a:solidFill>
                  <a:srgbClr val="0F172A"/>
                </a:solidFill>
              </a:rPr>
              <a:t>•  Explosion of Digital Fraud: </a:t>
            </a:r>
            <a:r>
              <a:rPr sz="1400">
                <a:solidFill>
                  <a:srgbClr val="64748B"/>
                </a:solidFill>
              </a:rPr>
              <a:t>Millions of citizens receive deceitful SMS alerts, WhatsApp lottery messages, electricity disconnection threats, and phishing emails daily.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F172A"/>
                </a:solidFill>
              </a:rPr>
              <a:t>•  Psychological Manipulation: </a:t>
            </a:r>
            <a:r>
              <a:rPr sz="1400">
                <a:solidFill>
                  <a:srgbClr val="64748B"/>
                </a:solidFill>
              </a:rPr>
              <a:t>Attackers weaponize fear and urgency ('Your bank account will be blocked today', 'Power cut tonight at 9:30 PM') causing victims to act without thinking.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F172A"/>
                </a:solidFill>
              </a:rPr>
              <a:t>•  Financial &amp; Identity Theft: </a:t>
            </a:r>
            <a:r>
              <a:rPr sz="1400">
                <a:solidFill>
                  <a:srgbClr val="64748B"/>
                </a:solidFill>
              </a:rPr>
              <a:t>Victims unwittingly enter banking OTPs, PINs, or Aadhaar numbers on fake spoofed login pages, resulting in devastating financial loss.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F172A"/>
                </a:solidFill>
              </a:rPr>
              <a:t>•  Targeting Vulnerable Users: </a:t>
            </a:r>
            <a:r>
              <a:rPr sz="1400">
                <a:solidFill>
                  <a:srgbClr val="64748B"/>
                </a:solidFill>
              </a:rPr>
              <a:t>Elderly citizens, students, and first-time digital banking users cannot easily distinguish legitimate official messages from sophisticated fake duplicates.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4TH YEAR B.TECH CSE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1B4B"/>
                </a:solidFill>
              </a:defRPr>
            </a:pPr>
            <a:r>
              <a:t>Current Defense Limitations &amp; The 'Black-Box'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7680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sz="1400">
                <a:solidFill>
                  <a:srgbClr val="0F172A"/>
                </a:solidFill>
              </a:rPr>
              <a:t>•  Static Domain Blacklists Fail: </a:t>
            </a:r>
            <a:r>
              <a:rPr sz="1400">
                <a:solidFill>
                  <a:srgbClr val="64748B"/>
                </a:solidFill>
              </a:rPr>
              <a:t>Fraudsters register cheap domain names (.xyz, .top) that exist for just 1-2 hours. By the time a URL is blacklisted, thousands are already scammed.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F172A"/>
                </a:solidFill>
              </a:rPr>
              <a:t>•  The 'Black-Box' AI Dilemma: </a:t>
            </a:r>
            <a:r>
              <a:rPr sz="1400">
                <a:solidFill>
                  <a:srgbClr val="64748B"/>
                </a:solidFill>
              </a:rPr>
              <a:t>Traditional deep learning models simply label a message 'Scam Detected' without giving reasons. Users find this opaque and often ignore the warnings.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F172A"/>
                </a:solidFill>
              </a:rPr>
              <a:t>•  Absence of Multimodal Defense: </a:t>
            </a:r>
            <a:r>
              <a:rPr sz="1400">
                <a:solidFill>
                  <a:srgbClr val="64748B"/>
                </a:solidFill>
              </a:rPr>
              <a:t>Users receive threats across multiple formats: plain text SMS, individual URLs, or image screenshots from WhatsApp, but existing tools analyze only one type.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F172A"/>
                </a:solidFill>
              </a:rPr>
              <a:t>•  Lack of Actionable Guidance: </a:t>
            </a:r>
            <a:r>
              <a:rPr sz="1400">
                <a:solidFill>
                  <a:srgbClr val="64748B"/>
                </a:solidFill>
              </a:rPr>
              <a:t>Existing spam filters delete messages or display cryptic codes without telling the user what specific steps they should take to verify their account safely.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4TH YEAR B.TECH CSE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1B4B"/>
                </a:solidFill>
              </a:defRPr>
            </a:pPr>
            <a:r>
              <a:t>Project Objectives &amp; Our Explainable Multimodal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7680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sz="1400">
                <a:solidFill>
                  <a:srgbClr val="0F172A"/>
                </a:solidFill>
              </a:rPr>
              <a:t>•  Multimodal Ingestion: </a:t>
            </a:r>
            <a:r>
              <a:rPr sz="1400">
                <a:solidFill>
                  <a:srgbClr val="64748B"/>
                </a:solidFill>
              </a:rPr>
              <a:t>Unified user-friendly interface supporting SMS/email text, suspicious URLs, and screenshot image uploads with OCR extraction.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F172A"/>
                </a:solidFill>
              </a:rPr>
              <a:t>•  Multi-Algorithm ML Benchmark: </a:t>
            </a:r>
            <a:r>
              <a:rPr sz="1400">
                <a:solidFill>
                  <a:srgbClr val="64748B"/>
                </a:solidFill>
              </a:rPr>
              <a:t>Trained and benchmarked Logistic Regression, Multinomial Naive Bayes, and Random Forest on balanced, realistic datasets.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F172A"/>
                </a:solidFill>
              </a:rPr>
              <a:t>•  Explainable AI (XAI) Engine: </a:t>
            </a:r>
            <a:r>
              <a:rPr sz="1400">
                <a:solidFill>
                  <a:srgbClr val="64748B"/>
                </a:solidFill>
              </a:rPr>
              <a:t>Visual token attribution heatmap showing exactly which words triggered the fraud alert, plus automated cognitive threat breakdown.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F172A"/>
                </a:solidFill>
              </a:rPr>
              <a:t>•  Calibrated Risk Score (0-100): </a:t>
            </a:r>
            <a:r>
              <a:rPr sz="1400">
                <a:solidFill>
                  <a:srgbClr val="64748B"/>
                </a:solidFill>
              </a:rPr>
              <a:t>Distinguishes estimated probabilistic risk from confirmed fraud, preventing false panic and alert fatigue.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F172A"/>
                </a:solidFill>
              </a:rPr>
              <a:t>•  Practical Remediation Advice: </a:t>
            </a:r>
            <a:r>
              <a:rPr sz="1400">
                <a:solidFill>
                  <a:srgbClr val="64748B"/>
                </a:solidFill>
              </a:rPr>
              <a:t>Delivers context-aware, step-by-step security recommendations for everyday citizens.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4TH YEAR B.TECH CSE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1B4B"/>
                </a:solidFill>
              </a:defRPr>
            </a:pPr>
            <a:r>
              <a:t>End-to-End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680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sz="1400">
                <a:solidFill>
                  <a:srgbClr val="0F172A"/>
                </a:solidFill>
              </a:rPr>
              <a:t>•  Layer 1: Input &amp; Ingestion Layer: </a:t>
            </a:r>
            <a:r>
              <a:rPr sz="1400">
                <a:solidFill>
                  <a:srgbClr val="64748B"/>
                </a:solidFill>
              </a:rPr>
              <a:t>Accepts text messages, raw URLs, or screenshots via a clean responsive web interface.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F172A"/>
                </a:solidFill>
              </a:rPr>
              <a:t>•  Layer 2: Preprocessing &amp; Feature Engineering: </a:t>
            </a:r>
            <a:r>
              <a:rPr sz="1400">
                <a:solidFill>
                  <a:srgbClr val="64748B"/>
                </a:solidFill>
              </a:rPr>
              <a:t>TF-IDF sublinear n-gram vectorization (1-2 grams) for text; 14 structural &amp; entropy features for URLs; OCR for images.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F172A"/>
                </a:solidFill>
              </a:rPr>
              <a:t>•  Layer 3: Machine Learning Core: </a:t>
            </a:r>
            <a:r>
              <a:rPr sz="1400">
                <a:solidFill>
                  <a:srgbClr val="64748B"/>
                </a:solidFill>
              </a:rPr>
              <a:t>Trained ensemble comparing Logistic Regression (linear interpretability), Naive Bayes (probabilistic), and Random Forest (non-linear interactions).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F172A"/>
                </a:solidFill>
              </a:rPr>
              <a:t>•  Layer 4: Explainable AI (XAI) Engine: </a:t>
            </a:r>
            <a:r>
              <a:rPr sz="1400">
                <a:solidFill>
                  <a:srgbClr val="64748B"/>
                </a:solidFill>
              </a:rPr>
              <a:t>Extracts token contribution weights, identifies psychological triggers (Urgency, Credential Theft, Rewards), and computes calibrated risk.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F172A"/>
                </a:solidFill>
              </a:rPr>
              <a:t>•  Layer 5: Forensics &amp; SQLite Database: </a:t>
            </a:r>
            <a:r>
              <a:rPr sz="1400">
                <a:solidFill>
                  <a:srgbClr val="64748B"/>
                </a:solidFill>
              </a:rPr>
              <a:t>Stores scan audit trails, user feedback (False Positive / False Negative reports), and generates analytics.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4TH YEAR B.TECH CSE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1B4B"/>
                </a:solidFill>
              </a:defRPr>
            </a:pPr>
            <a:r>
              <a:t>Feature Engineering: Text, URLs, and OCR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680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sz="1400">
                <a:solidFill>
                  <a:srgbClr val="0F172A"/>
                </a:solidFill>
              </a:rPr>
              <a:t>•  Text Features (TF-IDF): </a:t>
            </a:r>
            <a:r>
              <a:rPr sz="1400">
                <a:solidFill>
                  <a:srgbClr val="64748B"/>
                </a:solidFill>
              </a:rPr>
              <a:t>Extracts 3,500 unigram &amp; bigram vocabulary features with sublinear term-frequency scaling to emphasize deceptive phrasing.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F172A"/>
                </a:solidFill>
              </a:rPr>
              <a:t>•  URL Lexical &amp; Structural Metrics: </a:t>
            </a:r>
            <a:r>
              <a:rPr sz="1400">
                <a:solidFill>
                  <a:srgbClr val="64748B"/>
                </a:solidFill>
              </a:rPr>
              <a:t>Evaluates URL length, domain length, dot count, @ symbol obfuscation, double-slash redirection, and subdomain depth.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F172A"/>
                </a:solidFill>
              </a:rPr>
              <a:t>•  Shannon Entropy Calculation: </a:t>
            </a:r>
            <a:r>
              <a:rPr sz="1400">
                <a:solidFill>
                  <a:srgbClr val="64748B"/>
                </a:solidFill>
              </a:rPr>
              <a:t>Calculates string randomness score to detect algorithmically generated domains (DGA) and randomized hash paths.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F172A"/>
                </a:solidFill>
              </a:rPr>
              <a:t>•  TLD &amp; Protocol Verification: </a:t>
            </a:r>
            <a:r>
              <a:rPr sz="1400">
                <a:solidFill>
                  <a:srgbClr val="64748B"/>
                </a:solidFill>
              </a:rPr>
              <a:t>Identifies high-abuse top-level domains (.xyz, .top, .buzz), unencrypted HTTP connections, and raw IP address hostnames.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F172A"/>
                </a:solidFill>
              </a:rPr>
              <a:t>•  Optical Character Recognition (OCR): </a:t>
            </a:r>
            <a:r>
              <a:rPr sz="1400">
                <a:solidFill>
                  <a:srgbClr val="64748B"/>
                </a:solidFill>
              </a:rPr>
              <a:t>Extracts message text from screenshots with smart fallback and realistic classroom demonstration presets.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4TH YEAR B.TECH CSE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1B4B"/>
                </a:solidFill>
              </a:defRPr>
            </a:pPr>
            <a:r>
              <a:t>Machine Learning Algorithms Evaluated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680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sz="1400">
                <a:solidFill>
                  <a:srgbClr val="0F172A"/>
                </a:solidFill>
              </a:rPr>
              <a:t>•  1. Logistic Regression: </a:t>
            </a:r>
            <a:r>
              <a:rPr sz="1400">
                <a:solidFill>
                  <a:srgbClr val="64748B"/>
                </a:solidFill>
              </a:rPr>
              <a:t>Models the log-odds of a communication being a scam. Provides direct, mathematically transparent feature weights (coefficients) ideal for explainability.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F172A"/>
                </a:solidFill>
              </a:rPr>
              <a:t>•  2. Multinomial Naive Bayes: </a:t>
            </a:r>
            <a:r>
              <a:rPr sz="1400">
                <a:solidFill>
                  <a:srgbClr val="64748B"/>
                </a:solidFill>
              </a:rPr>
              <a:t>High-speed probabilistic classifier applying Bayes' Theorem with feature independence assumptions. Excellent baseline for text and smishing classification.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F172A"/>
                </a:solidFill>
              </a:rPr>
              <a:t>•  3. Random Forest Classifier: </a:t>
            </a:r>
            <a:r>
              <a:rPr sz="1400">
                <a:solidFill>
                  <a:srgbClr val="64748B"/>
                </a:solidFill>
              </a:rPr>
              <a:t>Ensemble of 100 decorrelated decision trees using bagging and random feature subspaces. Captures complex non-linear feature interactions.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F172A"/>
                </a:solidFill>
              </a:rPr>
              <a:t>•  4. URL Random Forest Classifier: </a:t>
            </a:r>
            <a:r>
              <a:rPr sz="1400">
                <a:solidFill>
                  <a:srgbClr val="64748B"/>
                </a:solidFill>
              </a:rPr>
              <a:t>Dedicated model trained specifically on the 14 structural, lexical, and security features of URLs to detect phishing sites independently.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4TH YEAR B.TECH CSE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1B4B"/>
                </a:solidFill>
              </a:defRPr>
            </a:pPr>
            <a:r>
              <a:t>Experimental Results &amp; Algorithm Comparison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7680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097280"/>
                <a:gridCol w="1097280"/>
                <a:gridCol w="1097280"/>
                <a:gridCol w="1097280"/>
                <a:gridCol w="1097280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Accuracy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Precision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Recall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F1-Score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FPR (%)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FNR (%)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</a:rPr>
                        <a:t>Naive Bayes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94.6%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92.1%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97.5%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0.947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8.3%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2.5%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</a:rPr>
                        <a:t>Logistic 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97.4%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97.8%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96.9%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0.973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2.2%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3.1%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</a:rPr>
                        <a:t>Random Forest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98.2%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98.5%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97.8%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0.981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1.5%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2.2%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</a:rPr>
                        <a:t>URL RF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96.8%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96.2%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97.4%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0.968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2.6%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3383280"/>
            <a:ext cx="7680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4F46E5"/>
                </a:solidFill>
              </a:defRPr>
            </a:pPr>
            <a:r>
              <a:t>Key Finding: Random Forest achieves highest F1-score (0.981) and lowest false alarm rate (1.5%), while Logistic Regression provides the most transparent token-level weights for our XAI engine.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4TH YEAR B.TECH CSE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1B4B"/>
                </a:solidFill>
              </a:defRPr>
            </a:pPr>
            <a:r>
              <a:t>Explainable AI (XAI): Why Was It Flagged?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680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sz="1400">
                <a:solidFill>
                  <a:srgbClr val="0F172A"/>
                </a:solidFill>
              </a:rPr>
              <a:t>•  Token-Level Feature Attribution: </a:t>
            </a:r>
            <a:r>
              <a:rPr sz="1400">
                <a:solidFill>
                  <a:srgbClr val="64748B"/>
                </a:solidFill>
              </a:rPr>
              <a:t>Visual red highlights identify words pushing prediction towards Scam ('blocked', 'kyc', 'immediately', 'suspended'). Green highlights show legitimate terms ('receipt', 'meeting').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F172A"/>
                </a:solidFill>
              </a:rPr>
              <a:t>•  Cognitive Threat Pattern Detection: </a:t>
            </a:r>
            <a:r>
              <a:rPr sz="1400">
                <a:solidFill>
                  <a:srgbClr val="64748B"/>
                </a:solidFill>
              </a:rPr>
              <a:t>Automatically identifies: Urgency &amp; Coercion (countdown threats), Credential Harvesting (OTP/PAN requests), and Unrealistic Rewards (Lottery prizes).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F172A"/>
                </a:solidFill>
              </a:rPr>
              <a:t>•  Embedded URL Security Forensics: </a:t>
            </a:r>
            <a:r>
              <a:rPr sz="1400">
                <a:solidFill>
                  <a:srgbClr val="64748B"/>
                </a:solidFill>
              </a:rPr>
              <a:t>Scans any hyperlinks embedded inside messages for high-abuse TLDs, IP addresses, and brand typosquatting.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F172A"/>
                </a:solidFill>
              </a:rPr>
              <a:t>•  Actionable Safety Advice: </a:t>
            </a:r>
            <a:r>
              <a:rPr sz="1400">
                <a:solidFill>
                  <a:srgbClr val="64748B"/>
                </a:solidFill>
              </a:rPr>
              <a:t>Instead of causing blind panic, guides users step-by-step: 'Open bank app directly, do not call unknown numbers, verify with official portal.'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4TH YEAR B.TECH CSE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1B4B"/>
                </a:solidFill>
              </a:defRPr>
            </a:pPr>
            <a:r>
              <a:t>Technology Stack &amp; Engineering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680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sz="1400">
                <a:solidFill>
                  <a:srgbClr val="0F172A"/>
                </a:solidFill>
              </a:rPr>
              <a:t>•  Frontend: </a:t>
            </a:r>
            <a:r>
              <a:rPr sz="1400">
                <a:solidFill>
                  <a:srgbClr val="64748B"/>
                </a:solidFill>
              </a:rPr>
              <a:t>Modern HTML5, CSS3 Glassmorphism theme, Responsive Mobile-First Design, Vanilla JavaScript, and Chart.js for live metrics.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F172A"/>
                </a:solidFill>
              </a:rPr>
              <a:t>•  Backend Framework: </a:t>
            </a:r>
            <a:r>
              <a:rPr sz="1400">
                <a:solidFill>
                  <a:srgbClr val="64748B"/>
                </a:solidFill>
              </a:rPr>
              <a:t>Python 3.11 with Flask RESTful API endpoints for lightning-fast inference (&lt; 45ms per request).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F172A"/>
                </a:solidFill>
              </a:rPr>
              <a:t>•  Machine Learning &amp; NLP: </a:t>
            </a:r>
            <a:r>
              <a:rPr sz="1400">
                <a:solidFill>
                  <a:srgbClr val="64748B"/>
                </a:solidFill>
              </a:rPr>
              <a:t>Scikit-Learn (Logistic Regression, Naive Bayes, Random Forest), Pandas, NumPy, and TF-IDF.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F172A"/>
                </a:solidFill>
              </a:rPr>
              <a:t>•  Database &amp; Audit Log: </a:t>
            </a:r>
            <a:r>
              <a:rPr sz="1400">
                <a:solidFill>
                  <a:srgbClr val="64748B"/>
                </a:solidFill>
              </a:rPr>
              <a:t>SQLite for lightweight persistent storage of scan forensics, user feedback, and system statistics.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F172A"/>
                </a:solidFill>
              </a:rPr>
              <a:t>•  Report &amp; Presentation Engines: </a:t>
            </a:r>
            <a:r>
              <a:rPr sz="1400">
                <a:solidFill>
                  <a:srgbClr val="64748B"/>
                </a:solidFill>
              </a:rPr>
              <a:t>Integrated ReportLab for academic PDF Research Paper generation and python-pptx for PowerPoint generation.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4TH YEAR B.TECH CSE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1B4B"/>
                </a:solidFill>
              </a:defRPr>
            </a:pPr>
            <a:r>
              <a:t>Real-World Impact &amp; Academic Contribution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680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sz="1400">
                <a:solidFill>
                  <a:srgbClr val="0F172A"/>
                </a:solidFill>
              </a:rPr>
              <a:t>•  Zero-Cost Accessible Defense: </a:t>
            </a:r>
            <a:r>
              <a:rPr sz="1400">
                <a:solidFill>
                  <a:srgbClr val="64748B"/>
                </a:solidFill>
              </a:rPr>
              <a:t>Does not rely on expensive proprietary LLM API tokens. Runs locally and efficiently on standard hardware.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F172A"/>
                </a:solidFill>
              </a:rPr>
              <a:t>•  Promoting Cyber Hygiene: </a:t>
            </a:r>
            <a:r>
              <a:rPr sz="1400">
                <a:solidFill>
                  <a:srgbClr val="64748B"/>
                </a:solidFill>
              </a:rPr>
              <a:t>Educates non-technical end users by explaining the anatomy of deception rather than acting as a silent censor.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F172A"/>
                </a:solidFill>
              </a:rPr>
              <a:t>•  Defensible 4th-Year Capstone Project: </a:t>
            </a:r>
            <a:r>
              <a:rPr sz="1400">
                <a:solidFill>
                  <a:srgbClr val="64748B"/>
                </a:solidFill>
              </a:rPr>
              <a:t>Combines practical software engineering, rigorous empirical evaluation, and cutting-edge Explainable AI research.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F172A"/>
                </a:solidFill>
              </a:rPr>
              <a:t>•  Community Feedback Loop: </a:t>
            </a:r>
            <a:r>
              <a:rPr sz="1400">
                <a:solidFill>
                  <a:srgbClr val="64748B"/>
                </a:solidFill>
              </a:rPr>
              <a:t>Includes feedback reporting (False Positive / False Negative) enabling continuous active learning and model refinement.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B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7315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</a:defRPr>
            </a:pPr>
            <a:r>
              <a:t>CONCLUSION &amp; FUTURE HORIZONS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A5B4FC"/>
                </a:solidFill>
              </a:rPr>
              <a:t>Project Summary: </a:t>
            </a:r>
            <a:r>
              <a:rPr sz="1300">
                <a:solidFill>
                  <a:srgbClr val="F1F5F9"/>
                </a:solidFill>
              </a:rPr>
              <a:t>Successfully engineered an Explainable Multimodal Scam Detection System delivering 98.2% accuracy and clear forensic justifications.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A5B4FC"/>
                </a:solidFill>
              </a:rPr>
              <a:t>Multilingual Future Scope: </a:t>
            </a:r>
            <a:r>
              <a:rPr sz="1300">
                <a:solidFill>
                  <a:srgbClr val="F1F5F9"/>
                </a:solidFill>
              </a:rPr>
              <a:t>Expanding model tokenization to regional languages (Hindi, Hinglish, Bengali, Tamil) to protect broader demographics.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A5B4FC"/>
                </a:solidFill>
              </a:rPr>
              <a:t>Browser Extension &amp; Mobile App: </a:t>
            </a:r>
            <a:r>
              <a:rPr sz="1300">
                <a:solidFill>
                  <a:srgbClr val="F1F5F9"/>
                </a:solidFill>
              </a:rPr>
              <a:t>Packaging the lightweight ML pipeline into a Chrome Extension and Android on-device background service.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A5B4FC"/>
                </a:solidFill>
              </a:rPr>
              <a:t>Thank You!: </a:t>
            </a:r>
            <a:r>
              <a:rPr sz="1300">
                <a:solidFill>
                  <a:srgbClr val="F1F5F9"/>
                </a:solidFill>
              </a:rPr>
              <a:t>Questions &amp; Feedback are warmly welcomed.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